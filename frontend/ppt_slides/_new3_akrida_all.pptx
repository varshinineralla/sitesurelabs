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i="1" b="1">
                <a:solidFill>
                  <a:srgbClr val="BE3649"/>
                </a:solidFill>
                <a:latin typeface="Aptos"/>
              </a:rPr>
              <a:t>Quality Walkthrough - My Home Akrida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3273552" cy="2670048"/>
          </a:xfrm>
          <a:prstGeom prst="rect">
            <a:avLst/>
          </a:prstGeom>
          <a:noFill/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78" y="1005840"/>
            <a:ext cx="1933956" cy="2578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051560"/>
            <a:ext cx="365760" cy="2194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/>
            <a:r>
              <a:rPr sz="900" b="1">
                <a:solidFill>
                  <a:srgbClr val="1E293B"/>
                </a:solidFill>
                <a:latin typeface="Aptos"/>
              </a:rPr>
              <a:t>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703320"/>
          <a:ext cx="3273552" cy="214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2048256"/>
              </a:tblGrid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Location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  <a:lnT w="12700" cap="flat" cmpd="sng" algn="ctr">
                      <a:solidFill>
                        <a:srgbClr val="454545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To be confirmed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  <a:lnT w="12700" cap="flat" cmpd="sng" algn="ctr">
                      <a:solidFill>
                        <a:srgbClr val="454545"/>
                      </a:solidFill>
                      <a:prstDash val="solid"/>
                    </a:lnT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Category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Structural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Reporting date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20-May-2026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Severity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HIGH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Defect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Crack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Observation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x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Recommendation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  <a:lnB w="12700" cap="flat" cmpd="sng" algn="ctr">
                      <a:solidFill>
                        <a:srgbClr val="45454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y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  <a:lnB w="12700" cap="flat" cmpd="sng" algn="ctr">
                      <a:solidFill>
                        <a:srgbClr val="45454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242816" y="960120"/>
            <a:ext cx="3273552" cy="2670048"/>
          </a:xfrm>
          <a:prstGeom prst="rect">
            <a:avLst/>
          </a:prstGeom>
          <a:noFill/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101852"/>
            <a:ext cx="3182112" cy="23865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34256" y="1051560"/>
            <a:ext cx="365760" cy="2194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/>
            <a:r>
              <a:rPr sz="900" b="1">
                <a:solidFill>
                  <a:srgbClr val="1E293B"/>
                </a:solidFill>
                <a:latin typeface="Aptos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42816" y="3703320"/>
          <a:ext cx="3273552" cy="214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2048256"/>
              </a:tblGrid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Location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  <a:lnT w="12700" cap="flat" cmpd="sng" algn="ctr">
                      <a:solidFill>
                        <a:srgbClr val="454545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To be confirmed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  <a:lnT w="12700" cap="flat" cmpd="sng" algn="ctr">
                      <a:solidFill>
                        <a:srgbClr val="454545"/>
                      </a:solidFill>
                      <a:prstDash val="solid"/>
                    </a:lnT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Category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Structural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Reporting date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5-May-2026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Severity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HIGH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Defect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Crack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Observation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x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FFFFFF"/>
                          </a:solidFill>
                          <a:latin typeface="Trebuchet MS"/>
                        </a:rPr>
                        <a:t>Recommendation</a:t>
                      </a:r>
                    </a:p>
                  </a:txBody>
                  <a:tcPr anchor="t" marL="73152" marR="54864" marT="45720" marB="45720">
                    <a:solidFill>
                      <a:srgbClr val="A6A6A6"/>
                    </a:solidFill>
                    <a:lnL w="12700" cap="flat" cmpd="sng" algn="ctr">
                      <a:solidFill>
                        <a:srgbClr val="454545"/>
                      </a:solidFill>
                      <a:prstDash val="solid"/>
                    </a:lnL>
                    <a:lnB w="12700" cap="flat" cmpd="sng" algn="ctr">
                      <a:solidFill>
                        <a:srgbClr val="45454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Trebuchet MS"/>
                        </a:rPr>
                        <a:t>y</a:t>
                      </a:r>
                    </a:p>
                  </a:txBody>
                  <a:tcPr anchor="t" marL="64008" marR="54864" marT="45720" marB="45720">
                    <a:solidFill>
                      <a:srgbClr val="FFFFFF"/>
                    </a:solidFill>
                    <a:lnR w="12700" cap="flat" cmpd="sng" algn="ctr">
                      <a:solidFill>
                        <a:srgbClr val="454545"/>
                      </a:solidFill>
                      <a:prstDash val="solid"/>
                    </a:lnR>
                    <a:lnB w="12700" cap="flat" cmpd="sng" algn="ctr">
                      <a:solidFill>
                        <a:srgbClr val="45454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1168" y="6510528"/>
            <a:ext cx="3108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475569"/>
                </a:solidFill>
                <a:latin typeface="Aptos"/>
              </a:rPr>
              <a:t>SiteSureLabs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390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90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390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66" y="560833"/>
            <a:ext cx="755866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278" y="609600"/>
            <a:ext cx="3901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66" y="3017520"/>
            <a:ext cx="60956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28" y="2926080"/>
            <a:ext cx="7314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292" y="3243072"/>
            <a:ext cx="10362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Akrida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66" y="4602480"/>
            <a:ext cx="975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66" y="5547360"/>
            <a:ext cx="4388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66" y="5827776"/>
            <a:ext cx="463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05-05-2026 — 20-05-2026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260839" y="5547360"/>
            <a:ext cx="4388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260839" y="5827776"/>
            <a:ext cx="463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50" y="6400800"/>
            <a:ext cx="114598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